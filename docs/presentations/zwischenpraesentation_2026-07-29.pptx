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82296"/>
          </a:xfrm>
          <a:prstGeom prst="rect">
            <a:avLst/>
          </a:prstGeom>
          <a:gradFill rotWithShape="1">
            <a:gsLst>
              <a:gs pos="0">
                <a:srgbClr val="E54B6E"/>
              </a:gs>
              <a:gs pos="100000">
                <a:srgbClr val="555BE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66666"/>
                </a:solidFill>
                <a:latin typeface="Calibri"/>
              </a:rPr>
              <a:t>Giresse Ngansop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66666"/>
                </a:solidFill>
                <a:latin typeface="Calibri"/>
              </a:rPr>
              <a:t>Bachelorarbeit – Zwischenpräsentation (10 Minuten)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2B2F8C"/>
                </a:solidFill>
                <a:latin typeface="Calibri"/>
              </a:rPr>
              <a:t>Welcher Farbraum hilft einem neuronalen</a:t>
            </a:r>
          </a:p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2B2F8C"/>
                </a:solidFill>
                <a:latin typeface="Calibri"/>
              </a:rPr>
              <a:t>Netz am meisten beim Bilderkennen?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Calibri"/>
              </a:rPr>
              <a:t>RGB vs. HSV vs. LAB vs. Graustufen — Training &amp; Robustheit auf CIFAR-10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29.07.2026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Universität Bamberg  |  xAI Lab Bamberg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37160"/>
            <a:ext cx="2286000" cy="292608"/>
          </a:xfrm>
          <a:prstGeom prst="round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 · EINLEITUNG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9377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B2F8C"/>
                </a:solidFill>
                <a:latin typeface="Calibri"/>
              </a:rPr>
              <a:t>Einleitung: Worum geht 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27940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52728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▪ Ausgangspunkt: Ein Foto besteht meist aus drei Farbkanälen — Rot, Grün, Blau (RGB).
Diese drei Kanäle hängen aber stark zusammen: wird es heller, steigen alle drei
gleichzeitig. Andere Formate wie LAB trennen Helligkeit und Farbe bewusst.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41448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▪ Meine Frage: Lernt ein neuronales Netz besser, wenn man ihm die Bilder nicht in
RGB, sondern in einem dieser anderen Formate zeigt?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▪ Meine Vermutung: LAB könnte dem Netz helfen, robuster gegen Licht- und
Kontraständerungen zu werden, weil Helligkeit dort ein eigener Kanal 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8444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▪ Was andere schon wissen: Ein früherer Vergleich (ColorNet, 2019) fand nur einen
kleinen Vorteil für LAB (1-2%). Niemand hat bisher untersucht, ob das auch für
einzelne Störungsarten wie Helligkeit oder Rauschen gilt.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90288"/>
            <a:ext cx="10881360" cy="1051560"/>
          </a:xfrm>
          <a:prstGeom prst="roundRect">
            <a:avLst/>
          </a:prstGeom>
          <a:solidFill>
            <a:srgbClr val="EEEEF9"/>
          </a:solidFill>
          <a:ln>
            <a:solidFill>
              <a:srgbClr val="555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B2F8C"/>
                </a:solidFill>
              </a:rPr>
              <a:t>Mein Beitrag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2F8C"/>
                </a:solidFill>
              </a:rPr>
              <a:t>Ein sorgfältiger Vergleich von RGB, HSV, LAB und Graustufen — nicht nur auf sauberen Bildern, sondern auch auf gestörten Bildern (CIFAR-10-C), mit mehreren Wiederholungen zur Absicherung.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9601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Giresse Ngansop  |  Farbräume &amp; Bildklassifizierung  |  Einleitung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47104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37160"/>
            <a:ext cx="2286000" cy="292608"/>
          </a:xfrm>
          <a:prstGeom prst="round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 · METHODE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9377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B2F8C"/>
                </a:solidFill>
                <a:latin typeface="Calibri"/>
              </a:rPr>
              <a:t>Methode: Wie habe ich das getestet?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27940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52728"/>
            <a:ext cx="2743200" cy="2651760"/>
          </a:xfrm>
          <a:prstGeom prst="roundRect">
            <a:avLst/>
          </a:prstGeom>
          <a:solidFill>
            <a:srgbClr val="F3F3FB"/>
          </a:solidFill>
          <a:ln>
            <a:solidFill>
              <a:srgbClr val="555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F8C"/>
                </a:solidFill>
                <a:latin typeface="Calibri"/>
              </a:rPr>
              <a:t>① Bild umwandeln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Jedes CIFAR-10-Bild wird von RGB in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HSV, LAB oder Graustufen umgerechnet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(Werte zwischen 0 und 1)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55264" y="2395728"/>
            <a:ext cx="100584" cy="274320"/>
          </a:xfrm>
          <a:prstGeom prst="rightArrow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64992" y="1252728"/>
            <a:ext cx="2743200" cy="2651760"/>
          </a:xfrm>
          <a:prstGeom prst="roundRect">
            <a:avLst/>
          </a:prstGeom>
          <a:solidFill>
            <a:srgbClr val="F3F3FB"/>
          </a:solidFill>
          <a:ln>
            <a:solidFill>
              <a:srgbClr val="555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F8C"/>
                </a:solidFill>
                <a:latin typeface="Calibri"/>
              </a:rPr>
              <a:t>② Netz trainieren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075688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ResNet-18, angepasst an kleine 32×32-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Bilder, von Grund auf trainiert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(50 Epochen, Adam-Optimierer)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117336" y="2395728"/>
            <a:ext cx="100584" cy="274320"/>
          </a:xfrm>
          <a:prstGeom prst="rightArrow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27064" y="1252728"/>
            <a:ext cx="2743200" cy="2651760"/>
          </a:xfrm>
          <a:prstGeom prst="roundRect">
            <a:avLst/>
          </a:prstGeom>
          <a:solidFill>
            <a:srgbClr val="F3F3FB"/>
          </a:solidFill>
          <a:ln>
            <a:solidFill>
              <a:srgbClr val="555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F8C"/>
                </a:solidFill>
                <a:latin typeface="Calibri"/>
              </a:rPr>
              <a:t>③ Sauber testen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075688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Genauigkeit auf normalen,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unveränderten Testbildern messen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79408" y="2395728"/>
            <a:ext cx="100584" cy="274320"/>
          </a:xfrm>
          <a:prstGeom prst="rightArrow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89136" y="1252728"/>
            <a:ext cx="2743200" cy="2651760"/>
          </a:xfrm>
          <a:prstGeom prst="roundRect">
            <a:avLst/>
          </a:prstGeom>
          <a:solidFill>
            <a:srgbClr val="F3F3FB"/>
          </a:solidFill>
          <a:ln>
            <a:solidFill>
              <a:srgbClr val="555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2016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F8C"/>
                </a:solidFill>
                <a:latin typeface="Calibri"/>
              </a:rPr>
              <a:t>④ Robust testen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2075688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Dasselbe Netz auf 75 künstlich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gestörten Testversionen prüfen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(CIFAR-10-C: Rauschen, Unschärfe,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Wetter, Helligkeit ...)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330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▪ Verglichene Formate: RGB (Ausgangspunkt) | HSV | LAB | Graustufen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▪ Datensatz: CIFAR-10 — 60.000 kleine Farbbilder in 10 Kategorien (Katze, Hund, Auto, ...)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47104"/>
            <a:ext cx="9601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Giresse Ngansop  |  Farbräume &amp; Bildklassifizierung  |  Methode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547104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37160"/>
            <a:ext cx="2286000" cy="292608"/>
          </a:xfrm>
          <a:prstGeom prst="round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 · METHODE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9377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B2F8C"/>
                </a:solidFill>
                <a:latin typeface="Calibri"/>
              </a:rPr>
              <a:t>Methode: Wie sicher ist das Ergebnis?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27940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Der wichtigste methodische Schritt dieser Phase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35608"/>
            <a:ext cx="10881360" cy="960120"/>
          </a:xfrm>
          <a:prstGeom prst="roundRect">
            <a:avLst/>
          </a:prstGeom>
          <a:solidFill>
            <a:srgbClr val="FCF3C7"/>
          </a:solidFill>
          <a:ln>
            <a:solidFill>
              <a:srgbClr val="D4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A5700"/>
                </a:solidFill>
              </a:rPr>
              <a:t>Problem beim ersten Versuch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7A5700"/>
                </a:solidFill>
              </a:rPr>
              <a:t>Mit nur einem Trainingslauf sahen sich die Farbräume kaum unterschiedlich — und RGB schien bei Helligkeitsstörungen sogar minimal besser als LAB. Aber: ein einziger Lauf hängt vom Zufall ab (zufällige Startwerte des Netzes). Ist der Unterschied echt?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78608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▪ Schritt 1 — mehrfach wiederholen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Jedes der 4 Formate 5-mal trainieren, mit
5 verschiedenen Zufallsstartwerten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= 20 komplette Trainingsläufe,
jeweils erneut auf CIFAR-10-C getestet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578608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▪ Schritt 2 — anders normalisieren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RGB und LAB zusätzlich mit 2 weiteren
Rechenverfahren (Min-Max, Zentrierung)
normalisieren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= 18 weitere Trainingsläufe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988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2F8C"/>
                </a:solidFill>
                <a:latin typeface="Calibri"/>
              </a:rPr>
              <a:t>Faustregel: Wenn sich die Ergebnisse zweier Formate im Streubereich (Mittelwert ± Streuung)</a:t>
            </a:r>
          </a:p>
          <a:p>
            <a:pPr algn="l"/>
            <a:r>
              <a:rPr sz="1300" b="0" i="1">
                <a:solidFill>
                  <a:srgbClr val="2B2F8C"/>
                </a:solidFill>
                <a:latin typeface="Calibri"/>
              </a:rPr>
              <a:t>überlappen, gilt der Unterschied als Zufall, nicht als echter Effekt.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47104"/>
            <a:ext cx="9601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Giresse Ngansop  |  Farbräume &amp; Bildklassifizierung  |  Methode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47104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37160"/>
            <a:ext cx="2286000" cy="292608"/>
          </a:xfrm>
          <a:prstGeom prst="round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 · EXPERIMENTE &amp; ERGEBNISSE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9377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B2F8C"/>
                </a:solidFill>
                <a:latin typeface="Calibri"/>
              </a:rPr>
              <a:t>Ergebnisse: Erster Trainingslauf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27940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1 Zufallsstartwert, Standard-Normalisierung</a:t>
            </a:r>
          </a:p>
        </p:txBody>
      </p:sp>
      <p:pic>
        <p:nvPicPr>
          <p:cNvPr id="6" name="Picture 5" descr="chart1_epoch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0" y="1435608"/>
            <a:ext cx="6882938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527048"/>
            <a:ext cx="3931920" cy="2377440"/>
          </a:xfrm>
          <a:prstGeom prst="roundRect">
            <a:avLst/>
          </a:prstGeom>
          <a:solidFill>
            <a:srgbClr val="F3F3FB"/>
          </a:solidFill>
          <a:ln>
            <a:solidFill>
              <a:srgbClr val="555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B2F8C"/>
                </a:solidFill>
              </a:rPr>
              <a:t>Genauigkeit nach 50 Epochen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2F8C"/>
                </a:solidFill>
              </a:rPr>
              <a:t>LAB: 92,96 %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2F8C"/>
                </a:solidFill>
              </a:rPr>
              <a:t>RGB: 92,93 %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2F8C"/>
                </a:solidFill>
              </a:rPr>
              <a:t>HSV: 92,21 %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2F8C"/>
                </a:solidFill>
              </a:rPr>
              <a:t>Graustufen: 90,82 %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041648"/>
            <a:ext cx="3931920" cy="1691640"/>
          </a:xfrm>
          <a:prstGeom prst="roundRect">
            <a:avLst/>
          </a:prstGeom>
          <a:solidFill>
            <a:srgbClr val="FCF3C7"/>
          </a:solidFill>
          <a:ln>
            <a:solidFill>
              <a:srgbClr val="D4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A5700"/>
                </a:solidFill>
              </a:rPr>
              <a:t>Robustheit bei Licht/Kontrast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7A5700"/>
                </a:solidFill>
              </a:rPr>
              <a:t>RGB: 0,822  vs.  LAB: 0,821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7A5700"/>
                </a:solidFill>
              </a:rPr>
              <a:t>→ RGB minimal vorne — widerspricht
meiner Hypothese. Aber: Zufall?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9601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Giresse Ngansop  |  Farbräume &amp; Bildklassifizierung  |  Experimente &amp; Ergebnisse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47104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37160"/>
            <a:ext cx="2286000" cy="292608"/>
          </a:xfrm>
          <a:prstGeom prst="round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 · EXPERIMENTE &amp; ERGEBNISSE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9377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B2F8C"/>
                </a:solidFill>
                <a:latin typeface="Calibri"/>
              </a:rPr>
              <a:t>Ergebnisse: Mit 5 Zufallsstartwerten wiederholt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27940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2_phase4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527" y="1252728"/>
            <a:ext cx="9768465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687568"/>
            <a:ext cx="10881360" cy="868680"/>
          </a:xfrm>
          <a:prstGeom prst="roundRect">
            <a:avLst/>
          </a:prstGeom>
          <a:solidFill>
            <a:srgbClr val="F3F3FB"/>
          </a:solidFill>
          <a:ln>
            <a:solidFill>
              <a:srgbClr val="555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B2F8C"/>
                </a:solidFill>
              </a:rPr>
              <a:t>Die Reihenfolge RGB ≈ LAB &gt; HSV &gt; Graustufen bleibt über alle 5 Läufe gleich — aber RGB und LAB überlappen sich (Fehlerbalken) bei beiden Kennzahlen.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601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Giresse Ngansop  |  Farbräume &amp; Bildklassifizierung  |  Experimente &amp; Ergebnisse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37160"/>
            <a:ext cx="2286000" cy="292608"/>
          </a:xfrm>
          <a:prstGeom prst="round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 · EXPERIMENTE &amp; ERGEBNISSE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9377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B2F8C"/>
                </a:solidFill>
                <a:latin typeface="Calibri"/>
              </a:rPr>
              <a:t>Ergebnisse: RGB gegen LAB, Lauf für Lauf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27940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Der entscheidende Blick: hält sich der Unterschied bei jedem einzelnen Startwert?</a:t>
            </a:r>
          </a:p>
        </p:txBody>
      </p:sp>
      <p:pic>
        <p:nvPicPr>
          <p:cNvPr id="6" name="Picture 5" descr="chart3_paired_se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124" y="1435608"/>
            <a:ext cx="6134791" cy="37490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321808"/>
            <a:ext cx="10881360" cy="1234440"/>
          </a:xfrm>
          <a:prstGeom prst="roundRect">
            <a:avLst/>
          </a:prstGeom>
          <a:solidFill>
            <a:srgbClr val="DDF3E3"/>
          </a:solidFill>
          <a:ln>
            <a:solidFill>
              <a:srgbClr val="2EA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B5E2E"/>
                </a:solidFill>
              </a:rPr>
              <a:t>RGB gewinnt bei 3 von 5 Startwerten, LAB bei 2 von 5 — die Punkte liegen mal auf der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einen, mal auf der anderen Seite. Der Abstand ist im Schnitt 5-mal kleiner als seine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eigene Schwankung zwischen den Läufen.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B5E2E"/>
                </a:solidFill>
              </a:rPr>
              <a:t>→ Der scheinbare RGB-Vorteil von Folie 5 war reiner Zufall, kein echter Effekt.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47104"/>
            <a:ext cx="9601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Giresse Ngansop  |  Farbräume &amp; Bildklassifizierung  |  Experimente &amp; Ergebnisse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37160"/>
            <a:ext cx="2286000" cy="292608"/>
          </a:xfrm>
          <a:prstGeom prst="round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 · EXPERIMENTE &amp; ERGEBNISSE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9377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B2F8C"/>
                </a:solidFill>
                <a:latin typeface="Calibri"/>
              </a:rPr>
              <a:t>Ergebnisse: Hilft eine andere Normalisierung?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27940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Betreuer-Idee: Schöpft LAB sein Potenzial vielleicht mit einer anderen Vorverarbeitung aus?</a:t>
            </a:r>
          </a:p>
        </p:txBody>
      </p:sp>
      <p:pic>
        <p:nvPicPr>
          <p:cNvPr id="6" name="Picture 5" descr="chart4_phase5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738" y="1435607"/>
            <a:ext cx="6808123" cy="3566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138928"/>
            <a:ext cx="10881360" cy="1417320"/>
          </a:xfrm>
          <a:prstGeom prst="roundRect">
            <a:avLst/>
          </a:prstGeom>
          <a:solidFill>
            <a:srgbClr val="DDF3E3"/>
          </a:solidFill>
          <a:ln>
            <a:solidFill>
              <a:srgbClr val="2EA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B5E2E"/>
                </a:solidFill>
              </a:rPr>
              <a:t>Der „Gewinner“ wechselt je nach Verfahren (RGB bei Min-Max, LAB sonst) — aber die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Fehlerbalken überlappen in allen drei Fällen deutlich, der Unterschied bleibt winzig.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B5E2E"/>
                </a:solidFill>
              </a:rPr>
              <a:t>→ Antwort: Nein. Eine andere Normalisierung deckt keinen versteckten LAB-Vorteil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B5E2E"/>
                </a:solidFill>
              </a:rPr>
              <a:t>auf. Das Ergebnis „kaum unterscheidbar“ bestätigt sich ein zweites Mal.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47104"/>
            <a:ext cx="9601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Giresse Ngansop  |  Farbräume &amp; Bildklassifizierung  |  Experimente &amp; Ergebnisse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37160"/>
            <a:ext cx="2286000" cy="292608"/>
          </a:xfrm>
          <a:prstGeom prst="round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 · DISKUSSION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9377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B2F8C"/>
                </a:solidFill>
                <a:latin typeface="Calibri"/>
              </a:rPr>
              <a:t>Diskussion: Was bedeutet das?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27940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52728"/>
            <a:ext cx="5577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▪ Das ist kein Ausreißer: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Auch andere Studien (z.B. ColorNet, 2019) finden nur kleine Unterschiede
zwischen Farbräumen (1-2%) — nichts Dramatisches.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Niemand hat bisher Farbräume gezielt pro Störungsart verglichen —
mein Blickwinkel auf Helligkeit/Kontrast ist also relativ neu.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▪ Eine mögliche Erklärung: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Wie robust ein Netz ist, hängt wohl mehr davon ab, ob es sich auf Form
oder auf Textur/Farbe verlässt (Geirhos et al., 2019) — nicht vom Eingabeformat.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Die BatchNorm-Schicht im Netz gleicht Kanäle ohnehin schon aneinander
an — das Netz „lernt“ eine Art eigene Farbentkopplung, egal was man ihm gibt.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52728"/>
            <a:ext cx="5212080" cy="3931920"/>
          </a:xfrm>
          <a:prstGeom prst="roundRect">
            <a:avLst/>
          </a:prstGeom>
          <a:solidFill>
            <a:srgbClr val="2B2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28600"/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</a:rPr>
              <a:t>Mein Hauptergebnis</a:t>
            </a:r>
          </a:p>
          <a:p>
            <a:r>
              <a:rPr sz="1300">
                <a:solidFill>
                  <a:srgbClr val="FFFFFF"/>
                </a:solidFill>
              </a:rPr>
              <a:t>Das Eingabeformat der Farbe (RGB, HSV, LAB) verändert weder die Genauigkeit noch die Robustheit spürbar — auch nicht bei Helligkeitsstörungen, wo ich es erwartet hätte.
Zweifach abgesichert: über mehrere Zufallsstartwerte UND über mehrere
Normalisierungsverfahren.
Einzige klare Ausnahme: Graustufen schneiden überall spürbar schlechter ab —
dort geht wirklich Information verloren.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601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Giresse Ngansop  |  Farbräume &amp; Bildklassifizierung  |  Diskussion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37160"/>
            <a:ext cx="2286000" cy="292608"/>
          </a:xfrm>
          <a:prstGeom prst="round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 · DISKUSSION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9377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B2F8C"/>
                </a:solidFill>
                <a:latin typeface="Calibri"/>
              </a:rPr>
              <a:t>Diskussion: Wo sind die Grenzen?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27940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52728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▪ Nur ein Modell getestet (ResNet-18)</a:t>
            </a:r>
          </a:p>
          <a:p>
            <a:pPr lvl="1">
              <a:spcAft>
                <a:spcPts val="1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– Andere Modelltypen (DenseNet, ViT, EfficientNet) könnten sich anders verhalten
— noch nicht getestet, aus Zeitgründen als Ausblick markiert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▪ Nur kleine Bilder (CIFAR-10, 32×32 Pixel)</a:t>
            </a:r>
          </a:p>
          <a:p>
            <a:pPr lvl="1">
              <a:spcAft>
                <a:spcPts val="1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– Bei größeren, hochauflösenden Bildern mit mehr Textur-Details könnte der Effekt
anders ausfallen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▪ Eine Normalisierung noch nicht probiert</a:t>
            </a:r>
          </a:p>
          <a:p>
            <a:pPr lvl="1">
              <a:spcAft>
                <a:spcPts val="1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– Die „lokale Kontrastnormalisierung“ (vom Betreuer erwähnt) fehlt noch —
aus Zeitgründen nicht mehr getestet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9601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Giresse Ngansop  |  Farbräume &amp; Bildklassifizierung  |  Diskussion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37160"/>
            <a:ext cx="2286000" cy="292608"/>
          </a:xfrm>
          <a:prstGeom prst="round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 · FAZIT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9377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B2F8C"/>
                </a:solidFill>
                <a:latin typeface="Calibri"/>
              </a:rPr>
              <a:t>Fazit &amp; Ausblick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27940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52728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▪ Zusammenfassung: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– Die Wahl des Farbraums (RGB/HSV/LAB) macht kaum einen Unterschied — weder
für die Genauigkeit noch für die Robustheit. Das habe ich zweifach überprüft.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– Das passt zu dem, was andere Studien bereits gefunden haben.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52928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▪ Was als Nächstes kommt (noch ca. 1-2 Monate Zeit):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– Zuerst: das Diskussionskapitel der Arbeit schreiben (Robustheitstests +
Grenzen der Arbeit) — ein erster Entwurf existiert bereits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– Wenn Zeit bleibt: die lokale Kontrastnormalisierung noch testen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– Als Ausblick formulieren (nicht mehr selbst testen): andere Modelltypen,
eine Zusatz-Fehlerfunktion für Helligkeit, ein selbst entworfener Farbraum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5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9601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Giresse Ngansop  |  Farbräume &amp; Bildklassifizierung  |  Fazit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2A3B6E"/>
                </a:solidFill>
                <a:latin typeface="Calibri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49039" y="233172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Diskussion &amp;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794760" y="2926080"/>
            <a:ext cx="2743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49039" y="3200400"/>
            <a:ext cx="74980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D8DDF5"/>
                </a:solidFill>
                <a:latin typeface="Calibri"/>
              </a:rPr>
              <a:t>▪ Welche der offenen Fragen würden Sie zuerst angehen: anderes Modell,
Helligkeits-Fehlerfunktion, oder eigener Farbraum?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D8DDF5"/>
                </a:solidFill>
                <a:latin typeface="Calibri"/>
              </a:rPr>
              <a:t>▪ Fallen Ihnen weitere Normalisierungs- oder Robustheitsansätze ein?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D8DDF5"/>
                </a:solidFill>
                <a:latin typeface="Calibri"/>
              </a:rPr>
              <a:t>▪ Wie würden Sie dieses Ergebnis in der Arbeit einordnen?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2E0"/>
                </a:solidFill>
                <a:latin typeface="Calibri"/>
              </a:rPr>
              <a:t>Giresse Ngansop  |  Universität Bamberg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